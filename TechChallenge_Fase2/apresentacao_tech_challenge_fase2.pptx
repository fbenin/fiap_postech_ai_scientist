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n, Diego" userId="cb23cd01-4aa8-4dd9-b6d7-6fecf1bbd211" providerId="ADAL" clId="{F4F67BD0-A85A-4C58-B867-2EA28B528D6B}"/>
    <pc:docChg chg="custSel modSld">
      <pc:chgData name="Santin, Diego" userId="cb23cd01-4aa8-4dd9-b6d7-6fecf1bbd211" providerId="ADAL" clId="{F4F67BD0-A85A-4C58-B867-2EA28B528D6B}" dt="2026-07-12T23:29:00.838" v="4" actId="1076"/>
      <pc:docMkLst>
        <pc:docMk/>
      </pc:docMkLst>
      <pc:sldChg chg="delSp mod">
        <pc:chgData name="Santin, Diego" userId="cb23cd01-4aa8-4dd9-b6d7-6fecf1bbd211" providerId="ADAL" clId="{F4F67BD0-A85A-4C58-B867-2EA28B528D6B}" dt="2026-07-12T23:28:47.941" v="1" actId="478"/>
        <pc:sldMkLst>
          <pc:docMk/>
          <pc:sldMk cId="0" sldId="261"/>
        </pc:sldMkLst>
        <pc:spChg chg="del">
          <ac:chgData name="Santin, Diego" userId="cb23cd01-4aa8-4dd9-b6d7-6fecf1bbd211" providerId="ADAL" clId="{F4F67BD0-A85A-4C58-B867-2EA28B528D6B}" dt="2026-07-12T23:28:47.941" v="1" actId="478"/>
          <ac:spMkLst>
            <pc:docMk/>
            <pc:sldMk cId="0" sldId="261"/>
            <ac:spMk id="28" creationId="{00000000-0000-0000-0000-000000000000}"/>
          </ac:spMkLst>
        </pc:spChg>
        <pc:spChg chg="del">
          <ac:chgData name="Santin, Diego" userId="cb23cd01-4aa8-4dd9-b6d7-6fecf1bbd211" providerId="ADAL" clId="{F4F67BD0-A85A-4C58-B867-2EA28B528D6B}" dt="2026-07-12T23:28:46.758" v="0" actId="478"/>
          <ac:spMkLst>
            <pc:docMk/>
            <pc:sldMk cId="0" sldId="261"/>
            <ac:spMk id="29" creationId="{00000000-0000-0000-0000-000000000000}"/>
          </ac:spMkLst>
        </pc:spChg>
      </pc:sldChg>
      <pc:sldChg chg="modSp mod">
        <pc:chgData name="Santin, Diego" userId="cb23cd01-4aa8-4dd9-b6d7-6fecf1bbd211" providerId="ADAL" clId="{F4F67BD0-A85A-4C58-B867-2EA28B528D6B}" dt="2026-07-12T23:29:00.838" v="4" actId="1076"/>
        <pc:sldMkLst>
          <pc:docMk/>
          <pc:sldMk cId="0" sldId="262"/>
        </pc:sldMkLst>
        <pc:spChg chg="mod">
          <ac:chgData name="Santin, Diego" userId="cb23cd01-4aa8-4dd9-b6d7-6fecf1bbd211" providerId="ADAL" clId="{F4F67BD0-A85A-4C58-B867-2EA28B528D6B}" dt="2026-07-12T23:28:58.663" v="3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Santin, Diego" userId="cb23cd01-4aa8-4dd9-b6d7-6fecf1bbd211" providerId="ADAL" clId="{F4F67BD0-A85A-4C58-B867-2EA28B528D6B}" dt="2026-07-12T23:29:00.838" v="4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Santin, Diego" userId="cb23cd01-4aa8-4dd9-b6d7-6fecf1bbd211" providerId="ADAL" clId="{F4F67BD0-A85A-4C58-B867-2EA28B528D6B}" dt="2026-07-12T23:28:55.680" v="2" actId="1076"/>
          <ac:spMkLst>
            <pc:docMk/>
            <pc:sldMk cId="0" sldId="262"/>
            <ac:spMk id="38" creationId="{00000000-0000-0000-0000-000000000000}"/>
          </ac:spMkLst>
        </pc:spChg>
      </pc:sldChg>
    </pc:docChg>
  </pc:docChgLst>
</pc:chgInfo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9418320" cy="3840480"/>
          </a:xfrm>
          <a:prstGeom prst="rect">
            <a:avLst/>
          </a:prstGeom>
          <a:solidFill>
            <a:srgbClr val="DFE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128016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E75B6"/>
                </a:solidFill>
              </a:rPr>
              <a:t>FIAP POSTECH — AI Scientist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916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</a:rPr>
              <a:t>Tech Challenge — Fase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2286000"/>
            <a:ext cx="8229600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2423160"/>
            <a:ext cx="8961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F4E79"/>
                </a:solidFill>
              </a:rPr>
              <a:t>Pipeline de Dados para
Análise da Alfabetização no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840480"/>
            <a:ext cx="8961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Como transformamos dados públicos do INEP em informação útil
para apoiar políticas educacionais.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1996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Engenharia de Dados · AWS · Arquitetura Medalhão · Batch + 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Por que esse projeto existe?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Em 2023, apenas 56 em cada 100 crianças saíam do 2º ano do ensino fundamental
sabendo ler e escrever. A meta do governo é chegar a 80% até 2030.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377440"/>
            <a:ext cx="1280160" cy="475488"/>
          </a:xfrm>
          <a:prstGeom prst="rect">
            <a:avLst/>
          </a:prstGeom>
          <a:solidFill>
            <a:srgbClr val="1F4E79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46888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377440"/>
            <a:ext cx="2377440" cy="475488"/>
          </a:xfrm>
          <a:prstGeom prst="rect">
            <a:avLst/>
          </a:prstGeom>
          <a:solidFill>
            <a:srgbClr val="1F4E79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Taxa de Alfabetização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377440"/>
            <a:ext cx="3200400" cy="475488"/>
          </a:xfrm>
          <a:prstGeom prst="rect">
            <a:avLst/>
          </a:prstGeom>
          <a:solidFill>
            <a:srgbClr val="1F4E79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46888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Situação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852928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94436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2023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852928"/>
            <a:ext cx="23774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294436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55,9%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852928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29443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Abaixo da meta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328416"/>
            <a:ext cx="12801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34198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2024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328416"/>
            <a:ext cx="2377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341985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59,2%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328416"/>
            <a:ext cx="3200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46320" y="3419856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Abaixo da meta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803904"/>
            <a:ext cx="128016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38953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2025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803904"/>
            <a:ext cx="237744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38953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66,0%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3803904"/>
            <a:ext cx="3200400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389534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Ainda falta muito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4279392"/>
            <a:ext cx="128016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43708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0"/>
                </a:solidFill>
              </a:rPr>
              <a:t>2030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279392"/>
            <a:ext cx="237744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68880" y="437083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0"/>
                </a:solidFill>
              </a:rPr>
              <a:t>80,0%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4279392"/>
            <a:ext cx="3200400" cy="475488"/>
          </a:xfrm>
          <a:prstGeom prst="rect">
            <a:avLst/>
          </a:prstGeom>
          <a:solidFill>
            <a:srgbClr val="E2EFDA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0" y="437083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8640"/>
                </a:solidFill>
              </a:rPr>
              <a:t>META DO GOVERNO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04040"/>
                </a:solidFill>
              </a:rPr>
              <a:t>Além disso, municípios pobres estão muito mais longe da meta do que os ricos —
a desigualdade regional é enorme e precisa ser monitorada município a município.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O que construímos?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</a:rPr>
              <a:t>Construímos uma pipeline de dados — uma "esteira automática" — que coleta,
limpa e organiza os dados de alfabetização do Brasil todo dia sozinha.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3566160" cy="3017520"/>
          </a:xfrm>
          <a:prstGeom prst="rect">
            <a:avLst/>
          </a:prstGeom>
          <a:solidFill>
            <a:srgbClr val="F2F7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331720"/>
            <a:ext cx="356616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COLETA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Busca os dados brutos
no portal do governo
(INEP) e guarda tudo
na nuvem (AWS S3).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331720"/>
            <a:ext cx="3566160" cy="3017520"/>
          </a:xfrm>
          <a:prstGeom prst="rect">
            <a:avLst/>
          </a:prstGeom>
          <a:solidFill>
            <a:srgbClr val="F2F7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2331720"/>
            <a:ext cx="356616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LIMPA E ORGANIZA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Remove erros, duplicatas
e une as 6 tabelas de
dados numa só, com
colunas padronizadas.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31720"/>
            <a:ext cx="3566160" cy="3017520"/>
          </a:xfrm>
          <a:prstGeom prst="rect">
            <a:avLst/>
          </a:prstGeom>
          <a:solidFill>
            <a:srgbClr val="F2F7FF"/>
          </a:solidFill>
          <a:ln w="25400">
            <a:solidFill>
              <a:srgbClr val="378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2331720"/>
            <a:ext cx="3566160" cy="502920"/>
          </a:xfrm>
          <a:prstGeom prst="rect">
            <a:avLst/>
          </a:prstGeom>
          <a:solidFill>
            <a:srgbClr val="378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423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71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Gera 6 relatórios prontos
para uso: ranking por
estado, municípios em
risco, proficiência...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235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6A6A6"/>
                </a:solidFill>
              </a:rPr>
              <a:t>Tudo acontece automaticamente todo dia às 6h da manhã, sem ninguém precisar fazer nada.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Como funciona por dentro?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O fluxo dos dados passo a passo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182880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04040"/>
                </a:solidFill>
              </a:rPr>
              <a:t>Dados do
Governo
(INEP/CSV)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2103120"/>
            <a:ext cx="1828800" cy="1371600"/>
          </a:xfrm>
          <a:prstGeom prst="rect">
            <a:avLst/>
          </a:prstGeom>
          <a:solidFill>
            <a:srgbClr val="F4E8D8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4A1A"/>
                </a:solidFill>
              </a:rPr>
              <a:t>Bronze
(dados brutos
no S3)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5146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2103120"/>
            <a:ext cx="1828800" cy="1371600"/>
          </a:xfrm>
          <a:prstGeom prst="rect">
            <a:avLst/>
          </a:prstGeom>
          <a:solidFill>
            <a:srgbClr val="E8EAE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57800" y="22860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04055"/>
                </a:solidFill>
              </a:rPr>
              <a:t>Silver
(dados limpos
e unidos)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25146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103120"/>
            <a:ext cx="1828800" cy="1371600"/>
          </a:xfrm>
          <a:prstGeom prst="rect">
            <a:avLst/>
          </a:prstGeom>
          <a:solidFill>
            <a:srgbClr val="FEF9E2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22860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D5F00"/>
                </a:solidFill>
              </a:rPr>
              <a:t>Gold
(relatórios
prontos)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5146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6A6A6"/>
                </a:solidFill>
              </a:rPr>
              <a:t>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9800" y="2103120"/>
            <a:ext cx="1828800" cy="1371600"/>
          </a:xfrm>
          <a:prstGeom prst="rect">
            <a:avLst/>
          </a:prstGeom>
          <a:solidFill>
            <a:srgbClr val="E8F3E8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2286000"/>
            <a:ext cx="1645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78640"/>
                </a:solidFill>
              </a:rPr>
              <a:t>Power BI /
Excel /
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Bronze = dados originais guardados sem alterar
Silver  = dados tratados: erros corrigidos, tabelas unidas
Gold    = relatórios finais prontos para consulta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657600"/>
            <a:ext cx="4572000" cy="1463040"/>
          </a:xfrm>
          <a:prstGeom prst="rect">
            <a:avLst/>
          </a:prstGeom>
          <a:solidFill>
            <a:srgbClr val="DFE8F3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37947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Agendamento automático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6052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Todo dia às 6h o Apache Airflow
dispara o processo. Se falhar,
para tudo e gera alerta.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11064240" cy="95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6A6A6"/>
                </a:solidFill>
              </a:rPr>
              <a:t>Coleta  ➜  Limpa  ➜  Valida qualidade  ➜  Gera relatórios  ➜  Verifica  ➜  Fim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Os Dados que Usamos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Todos públicos e gratuitos — vêm do governo federal (INEP e Base dos Dados)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 pipeline integra 6 tabelas de dados do INEP (Instituto Nacional de Estudos e
Pesquisas Educacionais), disponíveis na plataforma Base dos Dados e no portal do INEP: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1148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Tabela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240280"/>
            <a:ext cx="164592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Registros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240280"/>
            <a:ext cx="502920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 que contém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41148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85292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de Alfabetização — Brasil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4320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285292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0292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852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nacional por ano de rede de ensino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35584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de Alfabetização — por Estado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24612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3558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24612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335584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para cada estado (27 UFs × 2 redes)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40"/>
            <a:ext cx="41148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8587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de Alfabetização — Municípios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374904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0" y="3858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10.704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40"/>
            <a:ext cx="50292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0" y="38587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Meta para cada um dos 5.570 municípios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25196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3616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Resultado Real — por Estado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42519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43616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145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25196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36168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Taxa real de alfabetização por estado e série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754880"/>
            <a:ext cx="41148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8646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Resultado Real — por Município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475488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54880" y="486460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04040"/>
                </a:solidFill>
              </a:rPr>
              <a:t>23.995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754880"/>
            <a:ext cx="502920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8646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Taxa real de cada município do Brasil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692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Total: mais de 44.800 registros integrados e validados automaticamente (+ 10.000 microdados de alunos SAEB).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Garantia de Qualidade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Como sabemos que os dados estão corretos?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Antes de disponibilizar qualquer relatório, a pipeline roda testes automáticos.
Se algum teste falhar, o processo para e os relatórios NÃO são atualizados.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1064240" cy="658368"/>
          </a:xfrm>
          <a:prstGeom prst="rect">
            <a:avLst/>
          </a:prstGeom>
          <a:solidFill>
            <a:srgbClr val="F0F7EE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0"/>
                </a:solidFill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414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Nenhum campo obrigatório em branco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4144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Taxa de alfabetização, ano e código do município precisam sempre estar preenchidos.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17520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1729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0"/>
                </a:solidFill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7296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Sem registros duplicados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17296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Cada município aparece uma única vez por ano e rede de ensino.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11064240" cy="658368"/>
          </a:xfrm>
          <a:prstGeom prst="rect">
            <a:avLst/>
          </a:prstGeom>
          <a:solidFill>
            <a:srgbClr val="F0F7EE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044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0"/>
                </a:solidFill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9044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Valores dentro do esperado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90448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 taxa de alfabetização precisa ser um número entre 0% e 100%.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110642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63600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0"/>
                </a:solidFill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36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Municípios reconhecidos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3600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O código do município tem que existir na base oficial do IBGE.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80"/>
            <a:ext cx="11064240" cy="658368"/>
          </a:xfrm>
          <a:prstGeom prst="rect">
            <a:avLst/>
          </a:prstGeom>
          <a:solidFill>
            <a:srgbClr val="F0F7EE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3675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8640"/>
                </a:solidFill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675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Dados do estado batem com o município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67528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Os números estaduais são consistentes com a soma dos municípios.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Ferramentas e Custo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O que usamos e quanto custa?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Principais ferramentas: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AWS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288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Onde os dados ficam guardados na nuvem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AWS Glue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4871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Faz a limpeza e transformação dos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455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AWS Athena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455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Permite consultar os dados com 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Apache Airflow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0390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Agenda e executa tudo todo dia automaticamente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622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622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Linguagem de programação usada no projeto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5B6"/>
                </a:solidFill>
              </a:rPr>
              <a:t>• Parquet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120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04040"/>
                </a:solidFill>
              </a:rPr>
              <a:t>Formato de arquivo 60% mais leve que CSV/Excel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25880"/>
            <a:ext cx="9525" cy="512064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</a:rPr>
              <a:t>Custo mensal estimado: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874519"/>
            <a:ext cx="52120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196595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Armazenamento (S3)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6595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</a:rPr>
              <a:t>$  0,40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377439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46887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Processamento (Glue)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46887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</a:rPr>
              <a:t>$  1,76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880359"/>
            <a:ext cx="52120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297179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Consultas (Athena)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97179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</a:rPr>
              <a:t>$  0,25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3383279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29400" y="3474719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Monitoramento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47471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04040"/>
                </a:solidFill>
              </a:rPr>
              <a:t>$  0,50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886199"/>
            <a:ext cx="5212080" cy="502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392239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950207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FFFFFF"/>
                </a:solidFill>
              </a:rPr>
              <a:t xml:space="preserve">~ $2,91 / </a:t>
            </a:r>
            <a:r>
              <a:rPr sz="1200" b="1" i="0" dirty="0" err="1">
                <a:solidFill>
                  <a:srgbClr val="FFFFFF"/>
                </a:solidFill>
              </a:rPr>
              <a:t>mês</a:t>
            </a:r>
            <a:endParaRPr sz="1200" b="1" i="0" dirty="0">
              <a:solidFill>
                <a:srgbClr val="FFFFFF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492240" y="4160520"/>
            <a:ext cx="5212080" cy="685800"/>
          </a:xfrm>
          <a:prstGeom prst="rect">
            <a:avLst/>
          </a:prstGeom>
          <a:solidFill>
            <a:srgbClr val="FEF9E2"/>
          </a:solidFill>
          <a:ln w="12700">
            <a:solidFill>
              <a:srgbClr val="C5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4635" y="4251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5F00"/>
                </a:solidFill>
              </a:rPr>
              <a:t>Para comparar: usar ferramentas tradicionais
custaria cerca de R$ 2.000/mês.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83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40"/>
                </a:solidFill>
              </a:rPr>
              <a:t>Economia de aproximadamente 99% no custo de infraestrutura.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que a Pipeline Entrega?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6 relatórios prontos para uso — a camada Gold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A camada final (Gold) produz 6 conjuntos de dados prontos para serem usados
em dashboards, Excel, Power BI ou para alimentar modelos de Inteligência Artificial.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1106424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0292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2450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3591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Indicador por Município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5915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Taxa de alfabetização de todos os 5.570 municípios, com categoria de risco:
Crítico / Alto / Moderado / Meta Atingida.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90672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50292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32552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638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Evolução por Estado ao longo dos 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163824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Mostra como cada estado evoluiu — dá para ver quem cresceu mais
e quem ficou para trás.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95344"/>
            <a:ext cx="1106424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3895344"/>
            <a:ext cx="50292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40599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96849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Ranking dos 27 Estados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968496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Lista os estados do mais alfabetizado ao menos, com base
nos dados mais recentes.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00016"/>
            <a:ext cx="11064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700016"/>
            <a:ext cx="50292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6072" y="486460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7731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Os 100 Municípios em Situação Crítica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773168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Identifica os municípios mais distantes da meta de 80% —
os que precisam de atenção urgente.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04688"/>
            <a:ext cx="11064240" cy="749808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5504688"/>
            <a:ext cx="502920" cy="74980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5669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577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Comparativo Nacional (meta vs. realidade)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557784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Mostra a diferença entre o que foi alcançado e a trajetória
necessária para bater a meta em 2030.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Próximo Passo: Inteligência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Como esses dados podem ser usados para prever e agir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04040"/>
                </a:solidFill>
              </a:rPr>
              <a:t>Com os dados organizados na camada Gold, é possível construir modelos de IA
que ajudam o governo a tomar decisões mais rápidas e certeiras.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557784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36576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3957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Prever se um município vai atingir a meta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Um modelo analisa o ritmo atual de crescimento de cada município e
prevê se ele vai bater os 80% até 2030 — ou se vai precisar de ajuda.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86000"/>
            <a:ext cx="557784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36576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3957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Identificar grupos de municípios parecidos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834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Agrupa municípios com perfil semelhante (taxa baixa + pobreza alta,
por exemplo) para criar políticas públicas direcionadas.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557784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206240"/>
            <a:ext cx="36576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315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Projetar a taxa de cada estado nos próximos anos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Usando séries históricas, estima como cada estado vai evoluir
e onde o governo precisa intensificar o apoio.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206240"/>
            <a:ext cx="5577840" cy="1737360"/>
          </a:xfrm>
          <a:prstGeom prst="rect">
            <a:avLst/>
          </a:prstGeom>
          <a:solidFill>
            <a:srgbClr val="F0F5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4206240"/>
            <a:ext cx="365760" cy="1737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4315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E79"/>
                </a:solidFill>
              </a:rPr>
              <a:t>Mapear desigualdade educacional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Cruza dados de alfabetização com IDH, pobreza e acesso ao
Bolsa Família para entender as causas da desigualdade.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DD7EE"/>
                </a:solidFill>
              </a:rPr>
              <a:t>Resumo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Pipeline pronta.
Dados confiáveis.
Decisões melhores.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10515600" cy="1905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44.800+ registros integrados e validados (+ 10.000 microdados de alunos SAEB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6 relatórios prontos: ranking, risco, evolução, comparativo nacional e proficiência por município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Custo de ~R$ 15/mês contra ~R$ 2.000 de uma solução tradicional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Base de dados pronta para modelos de IA que preveem municípios em risco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✔  Código no GitHub com histórico, notebooks, testes e documentação completa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D2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2910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DC3E6"/>
                </a:solidFill>
              </a:rPr>
              <a:t>FIAP POSTECH  ·  AI Scientist  ·  Tech Challenge Fase 2  ·  Engenharia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5379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6A6A6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1250</Words>
  <Application>Microsoft Office PowerPoint</Application>
  <PresentationFormat>Custom</PresentationFormat>
  <Paragraphs>165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Santin, Diego</cp:lastModifiedBy>
  <cp:revision>1</cp:revision>
  <dcterms:created xsi:type="dcterms:W3CDTF">2013-01-27T09:14:16Z</dcterms:created>
  <dcterms:modified xsi:type="dcterms:W3CDTF">2026-07-12T23:29:05Z</dcterms:modified>
  <cp:category/>
</cp:coreProperties>
</file>