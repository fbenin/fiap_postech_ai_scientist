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7" d="100"/>
          <a:sy n="67" d="100"/>
        </p:scale>
        <p:origin x="548" y="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ntin, Diego" userId="cb23cd01-4aa8-4dd9-b6d7-6fecf1bbd211" providerId="ADAL" clId="{F4F67BD0-A85A-4C58-B867-2EA28B528D6B}"/>
    <pc:docChg chg="custSel modSld">
      <pc:chgData name="Santin, Diego" userId="cb23cd01-4aa8-4dd9-b6d7-6fecf1bbd211" providerId="ADAL" clId="{F4F67BD0-A85A-4C58-B867-2EA28B528D6B}" dt="2026-07-12T23:29:00.838" v="4" actId="1076"/>
      <pc:docMkLst>
        <pc:docMk/>
      </pc:docMkLst>
      <pc:sldChg chg="delSp mod">
        <pc:chgData name="Santin, Diego" userId="cb23cd01-4aa8-4dd9-b6d7-6fecf1bbd211" providerId="ADAL" clId="{F4F67BD0-A85A-4C58-B867-2EA28B528D6B}" dt="2026-07-12T23:28:47.941" v="1" actId="478"/>
        <pc:sldMkLst>
          <pc:docMk/>
          <pc:sldMk cId="0" sldId="261"/>
        </pc:sldMkLst>
        <pc:spChg chg="del">
          <ac:chgData name="Santin, Diego" userId="cb23cd01-4aa8-4dd9-b6d7-6fecf1bbd211" providerId="ADAL" clId="{F4F67BD0-A85A-4C58-B867-2EA28B528D6B}" dt="2026-07-12T23:28:47.941" v="1" actId="478"/>
          <ac:spMkLst>
            <pc:docMk/>
            <pc:sldMk cId="0" sldId="261"/>
            <ac:spMk id="28" creationId="{00000000-0000-0000-0000-000000000000}"/>
          </ac:spMkLst>
        </pc:spChg>
        <pc:spChg chg="del">
          <ac:chgData name="Santin, Diego" userId="cb23cd01-4aa8-4dd9-b6d7-6fecf1bbd211" providerId="ADAL" clId="{F4F67BD0-A85A-4C58-B867-2EA28B528D6B}" dt="2026-07-12T23:28:46.758" v="0" actId="478"/>
          <ac:spMkLst>
            <pc:docMk/>
            <pc:sldMk cId="0" sldId="261"/>
            <ac:spMk id="29" creationId="{00000000-0000-0000-0000-000000000000}"/>
          </ac:spMkLst>
        </pc:spChg>
      </pc:sldChg>
      <pc:sldChg chg="modSp mod">
        <pc:chgData name="Santin, Diego" userId="cb23cd01-4aa8-4dd9-b6d7-6fecf1bbd211" providerId="ADAL" clId="{F4F67BD0-A85A-4C58-B867-2EA28B528D6B}" dt="2026-07-12T23:29:00.838" v="4" actId="1076"/>
        <pc:sldMkLst>
          <pc:docMk/>
          <pc:sldMk cId="0" sldId="262"/>
        </pc:sldMkLst>
        <pc:spChg chg="mod">
          <ac:chgData name="Santin, Diego" userId="cb23cd01-4aa8-4dd9-b6d7-6fecf1bbd211" providerId="ADAL" clId="{F4F67BD0-A85A-4C58-B867-2EA28B528D6B}" dt="2026-07-12T23:28:58.663" v="3" actId="1076"/>
          <ac:spMkLst>
            <pc:docMk/>
            <pc:sldMk cId="0" sldId="262"/>
            <ac:spMk id="35" creationId="{00000000-0000-0000-0000-000000000000}"/>
          </ac:spMkLst>
        </pc:spChg>
        <pc:spChg chg="mod">
          <ac:chgData name="Santin, Diego" userId="cb23cd01-4aa8-4dd9-b6d7-6fecf1bbd211" providerId="ADAL" clId="{F4F67BD0-A85A-4C58-B867-2EA28B528D6B}" dt="2026-07-12T23:29:00.838" v="4" actId="1076"/>
          <ac:spMkLst>
            <pc:docMk/>
            <pc:sldMk cId="0" sldId="262"/>
            <ac:spMk id="36" creationId="{00000000-0000-0000-0000-000000000000}"/>
          </ac:spMkLst>
        </pc:spChg>
        <pc:spChg chg="mod">
          <ac:chgData name="Santin, Diego" userId="cb23cd01-4aa8-4dd9-b6d7-6fecf1bbd211" providerId="ADAL" clId="{F4F67BD0-A85A-4C58-B867-2EA28B528D6B}" dt="2026-07-12T23:28:55.680" v="2" actId="1076"/>
          <ac:spMkLst>
            <pc:docMk/>
            <pc:sldMk cId="0" sldId="262"/>
            <ac:spMk id="38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371600" y="1097280"/>
            <a:ext cx="9418320" cy="3840480"/>
          </a:xfrm>
          <a:prstGeom prst="rect">
            <a:avLst/>
          </a:prstGeom>
          <a:solidFill>
            <a:srgbClr val="DFE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645920" y="1280160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E75B6"/>
                </a:solidFill>
              </a:rPr>
              <a:t>FIAP POSTECH — AI Scientist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691640"/>
            <a:ext cx="8961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4E79"/>
                </a:solidFill>
              </a:rPr>
              <a:t>Tech Challenge — Fase 2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2286000"/>
            <a:ext cx="8229600" cy="1905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45920" y="2423160"/>
            <a:ext cx="8961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1F4E79"/>
                </a:solidFill>
              </a:rPr>
              <a:t>Pipeline de Dados para
Análise da Alfabetização no Brasil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840480"/>
            <a:ext cx="8961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</a:rPr>
              <a:t>Como transformamos dados públicos do INEP em informação útil
para apoiar políticas educacionais.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035040"/>
            <a:ext cx="12188952" cy="8229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619963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Engenharia de Dados · AWS · Arquitetura Medalhão · Batch + Streaming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</a:rPr>
              <a:t>Por que esse projeto existe?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53796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</a:rPr>
              <a:t>2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</a:rPr>
              <a:t>Em 2023, apenas 56 em cada 100 crianças saíam do 2º ano do ensino fundamental
sabendo ler e escrever. A meta do governo é chegar a 80% até 2030.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2377440"/>
            <a:ext cx="1280160" cy="475488"/>
          </a:xfrm>
          <a:prstGeom prst="rect">
            <a:avLst/>
          </a:prstGeom>
          <a:solidFill>
            <a:srgbClr val="1F4E79"/>
          </a:solidFill>
          <a:ln w="635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88720" y="2468880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Ano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2377440"/>
            <a:ext cx="2377440" cy="475488"/>
          </a:xfrm>
          <a:prstGeom prst="rect">
            <a:avLst/>
          </a:prstGeom>
          <a:solidFill>
            <a:srgbClr val="1F4E79"/>
          </a:solidFill>
          <a:ln w="635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468880" y="246888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Taxa de Alfabetização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0" y="2377440"/>
            <a:ext cx="3200400" cy="475488"/>
          </a:xfrm>
          <a:prstGeom prst="rect">
            <a:avLst/>
          </a:prstGeom>
          <a:solidFill>
            <a:srgbClr val="1F4E79"/>
          </a:solidFill>
          <a:ln w="635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46320" y="2468880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Situação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2852928"/>
            <a:ext cx="1280160" cy="475488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88720" y="2944368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2023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0" y="2852928"/>
            <a:ext cx="2377440" cy="475488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468880" y="2944368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55,9%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2852928"/>
            <a:ext cx="3200400" cy="475488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46320" y="2944368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Abaixo da meta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0" y="3328416"/>
            <a:ext cx="128016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88720" y="3419856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2024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77440" y="3328416"/>
            <a:ext cx="237744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468880" y="3419856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59,2%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4880" y="3328416"/>
            <a:ext cx="32004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46320" y="3419856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Abaixo da meta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97280" y="3803904"/>
            <a:ext cx="1280160" cy="475488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188720" y="3895344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2025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77440" y="3803904"/>
            <a:ext cx="2377440" cy="475488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468880" y="3895344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66,0%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54880" y="3803904"/>
            <a:ext cx="3200400" cy="475488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846320" y="3895344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Ainda falta muito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97280" y="4279392"/>
            <a:ext cx="1280160" cy="475488"/>
          </a:xfrm>
          <a:prstGeom prst="rect">
            <a:avLst/>
          </a:prstGeom>
          <a:solidFill>
            <a:srgbClr val="E2EFDA"/>
          </a:solidFill>
          <a:ln w="635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188720" y="4370832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78640"/>
                </a:solidFill>
              </a:rPr>
              <a:t>2030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77440" y="4279392"/>
            <a:ext cx="2377440" cy="475488"/>
          </a:xfrm>
          <a:prstGeom prst="rect">
            <a:avLst/>
          </a:prstGeom>
          <a:solidFill>
            <a:srgbClr val="E2EFDA"/>
          </a:solidFill>
          <a:ln w="635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468880" y="4370832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78640"/>
                </a:solidFill>
              </a:rPr>
              <a:t>80,0%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54880" y="4279392"/>
            <a:ext cx="3200400" cy="475488"/>
          </a:xfrm>
          <a:prstGeom prst="rect">
            <a:avLst/>
          </a:prstGeom>
          <a:solidFill>
            <a:srgbClr val="E2EFDA"/>
          </a:solidFill>
          <a:ln w="635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846320" y="4370832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78640"/>
                </a:solidFill>
              </a:rPr>
              <a:t>META DO GOVERNO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1206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04040"/>
                </a:solidFill>
              </a:rPr>
              <a:t>Além disso, municípios pobres estão muito mais longe da meta do que os ricos —
a desigualdade regional é enorme e precisa ser monitorada município a município.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 Solução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</a:rPr>
              <a:t>O que construímos?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53796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</a:rPr>
              <a:t>3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</a:rPr>
              <a:t>Construímos uma pipeline de dados — uma "esteira automática" — que coleta,
limpa e organiza os dados de alfabetização do Brasil todo dia sozinha.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31720"/>
            <a:ext cx="3566160" cy="3017520"/>
          </a:xfrm>
          <a:prstGeom prst="rect">
            <a:avLst/>
          </a:prstGeom>
          <a:solidFill>
            <a:srgbClr val="F2F7FF"/>
          </a:solidFill>
          <a:ln w="254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2331720"/>
            <a:ext cx="356616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42316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1. COLETA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3291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Busca os dados brutos
no portal do governo
(INEP) e guarda tudo
na nuvem (AWS S3).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331720"/>
            <a:ext cx="3566160" cy="3017520"/>
          </a:xfrm>
          <a:prstGeom prst="rect">
            <a:avLst/>
          </a:prstGeom>
          <a:solidFill>
            <a:srgbClr val="F2F7FF"/>
          </a:solidFill>
          <a:ln w="254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34840" y="2331720"/>
            <a:ext cx="356616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0" y="242316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2. LIMPA E ORGANIZA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971800"/>
            <a:ext cx="3291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Remove erros, duplicatas
e une as 5 tabelas de
dados numa só, com
colunas padronizadas.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2331720"/>
            <a:ext cx="3566160" cy="3017520"/>
          </a:xfrm>
          <a:prstGeom prst="rect">
            <a:avLst/>
          </a:prstGeom>
          <a:solidFill>
            <a:srgbClr val="F2F7FF"/>
          </a:solidFill>
          <a:ln w="25400">
            <a:solidFill>
              <a:srgbClr val="3786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29600" y="2331720"/>
            <a:ext cx="3566160" cy="502920"/>
          </a:xfrm>
          <a:prstGeom prst="rect">
            <a:avLst/>
          </a:prstGeom>
          <a:solidFill>
            <a:srgbClr val="378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66760" y="242316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3. ENTREGA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971800"/>
            <a:ext cx="3291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Gera 5 relatórios prontos
para uso: ranking por
estado, municípios em
risco, evolução anual...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24528" y="34747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6A6A6"/>
                </a:solidFill>
              </a:rPr>
              <a:t>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19288" y="34747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6A6A6"/>
                </a:solidFill>
              </a:rPr>
              <a:t>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2356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6A6A6"/>
                </a:solidFill>
              </a:rPr>
              <a:t>Tudo acontece automaticamente todo dia às 6h da manhã, sem ninguém precisar fazer nada.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Como funciona por dentro?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</a:rPr>
              <a:t>O fluxo dos dados passo a passo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53796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</a:rPr>
              <a:t>4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103120"/>
            <a:ext cx="182880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16459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404040"/>
                </a:solidFill>
              </a:rPr>
              <a:t>Dados do
Governo
(INEP/CSV)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5728" y="2514600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A6A6A6"/>
                </a:solidFill>
              </a:rPr>
              <a:t>➜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4640" y="2103120"/>
            <a:ext cx="1828800" cy="1371600"/>
          </a:xfrm>
          <a:prstGeom prst="rect">
            <a:avLst/>
          </a:prstGeom>
          <a:solidFill>
            <a:srgbClr val="F4E8D8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26080" y="2286000"/>
            <a:ext cx="16459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7B4A1A"/>
                </a:solidFill>
              </a:rPr>
              <a:t>Bronze
(dados brutos
no S3)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27448" y="2514600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A6A6A6"/>
                </a:solidFill>
              </a:rPr>
              <a:t>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66360" y="2103120"/>
            <a:ext cx="1828800" cy="1371600"/>
          </a:xfrm>
          <a:prstGeom prst="rect">
            <a:avLst/>
          </a:prstGeom>
          <a:solidFill>
            <a:srgbClr val="E8EAE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57800" y="2286000"/>
            <a:ext cx="16459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404055"/>
                </a:solidFill>
              </a:rPr>
              <a:t>Silver
(dados limpos
e unidos)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59168" y="2514600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A6A6A6"/>
                </a:solidFill>
              </a:rPr>
              <a:t>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0" y="2103120"/>
            <a:ext cx="1828800" cy="1371600"/>
          </a:xfrm>
          <a:prstGeom prst="rect">
            <a:avLst/>
          </a:prstGeom>
          <a:solidFill>
            <a:srgbClr val="FEF9E2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589520" y="2286000"/>
            <a:ext cx="16459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7D5F00"/>
                </a:solidFill>
              </a:rPr>
              <a:t>Gold
(relatórios
prontos)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0888" y="2514600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A6A6A6"/>
                </a:solidFill>
              </a:rPr>
              <a:t>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29800" y="2103120"/>
            <a:ext cx="1828800" cy="1371600"/>
          </a:xfrm>
          <a:prstGeom prst="rect">
            <a:avLst/>
          </a:prstGeom>
          <a:solidFill>
            <a:srgbClr val="E8F3E8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921240" y="2286000"/>
            <a:ext cx="16459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378640"/>
                </a:solidFill>
              </a:rPr>
              <a:t>Power BI /
Excel /
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749039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Bronze = dados originais guardados sem alterar
Silver  = dados tratados: erros corrigidos, tabelas unidas
Gold    = relatórios finais prontos para consulta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0" y="3657600"/>
            <a:ext cx="4572000" cy="1463040"/>
          </a:xfrm>
          <a:prstGeom prst="rect">
            <a:avLst/>
          </a:prstGeom>
          <a:solidFill>
            <a:srgbClr val="DFE8F3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0" y="379476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</a:rPr>
              <a:t>Agendamento automático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4160520"/>
            <a:ext cx="4206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Todo dia às 6h o Apache Airflow
dispara o processo. Se falhar,
para tudo e gera alerta.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394960"/>
            <a:ext cx="11064240" cy="9525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" y="553212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6A6A6"/>
                </a:solidFill>
              </a:rPr>
              <a:t>Coleta  ➜  Limpa  ➜  Valida qualidade  ➜  Gera relatórios  ➜  Verifica  ➜  Fim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Os Dados que Usamos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</a:rPr>
              <a:t>Todos públicos e gratuitos — vêm do governo federal (INEP)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53796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</a:rPr>
              <a:t>5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</a:rPr>
              <a:t>A pipeline integra 5 tabelas de dados do INEP (Instituto Nacional de Estudos e
Pesquisas Educacionais), disponíveis na plataforma Base dos Dados: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40280"/>
            <a:ext cx="411480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33172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Tabela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240280"/>
            <a:ext cx="164592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54880" y="233172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Registros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240280"/>
            <a:ext cx="502920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233172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O que contém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743200"/>
            <a:ext cx="4114800" cy="50292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2852928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Meta de Alfabetização — Brasil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2743200"/>
            <a:ext cx="1645920" cy="50292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54880" y="285292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04040"/>
                </a:solidFill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2743200"/>
            <a:ext cx="5029200" cy="50292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0" y="285292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Meta nacional por ano de rede de ensino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246120"/>
            <a:ext cx="41148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3355848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Meta de Alfabetização — por Estado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63440" y="3246120"/>
            <a:ext cx="16459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754880" y="335584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04040"/>
                </a:solidFill>
              </a:rPr>
              <a:t>54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3246120"/>
            <a:ext cx="5029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0" y="335584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Meta para cada estado (27 UFs × 2 redes)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749040"/>
            <a:ext cx="4114800" cy="50292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" y="3858768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Meta de Alfabetização — Municípios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63440" y="3749040"/>
            <a:ext cx="1645920" cy="50292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754880" y="385876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04040"/>
                </a:solidFill>
              </a:rPr>
              <a:t>10.704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3749040"/>
            <a:ext cx="5029200" cy="50292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0800" y="385876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Meta para cada um dos 5.570 municípios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251960"/>
            <a:ext cx="41148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4361688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Resultado Real — por Estado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63440" y="4251960"/>
            <a:ext cx="16459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754880" y="436168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04040"/>
                </a:solidFill>
              </a:rPr>
              <a:t>145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9360" y="4251960"/>
            <a:ext cx="5029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00800" y="436168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Taxa real de alfabetização por estado e série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4754880"/>
            <a:ext cx="4114800" cy="50292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40080" y="4864608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Resultado Real — por Município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63440" y="4754880"/>
            <a:ext cx="1645920" cy="50292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754880" y="486460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04040"/>
                </a:solidFill>
              </a:rPr>
              <a:t>23.995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9360" y="4754880"/>
            <a:ext cx="5029200" cy="50292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00800" y="486460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Taxa real de cada município do Brasil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56692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</a:rPr>
              <a:t>Total: mais de 34.800 registros municipais integrados e validados automaticamente.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Garantia de Qualidade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</a:rPr>
              <a:t>Como sabemos que os dados estão corretos?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53796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</a:rPr>
              <a:t>6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</a:rPr>
              <a:t>Antes de disponibilizar qualquer relatório, a pipeline roda testes automáticos.
Se algum teste falhar, o processo para e os relatórios NÃO são atualizados.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86000"/>
            <a:ext cx="11064240" cy="658368"/>
          </a:xfrm>
          <a:prstGeom prst="rect">
            <a:avLst/>
          </a:prstGeom>
          <a:solidFill>
            <a:srgbClr val="F0F7EE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2441448"/>
            <a:ext cx="320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78640"/>
                </a:solidFill>
              </a:rPr>
              <a:t>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</a:rPr>
              <a:t>Nenhum campo obrigatório em branco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441448"/>
            <a:ext cx="612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Taxa de alfabetização, ano e código do município precisam sempre estar preenchidos.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017520"/>
            <a:ext cx="1106424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3172968"/>
            <a:ext cx="320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78640"/>
                </a:solidFill>
              </a:rPr>
              <a:t>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17296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</a:rPr>
              <a:t>Sem registros duplicados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172968"/>
            <a:ext cx="612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Cada município aparece uma única vez por ano e rede de ensino.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749040"/>
            <a:ext cx="11064240" cy="658368"/>
          </a:xfrm>
          <a:prstGeom prst="rect">
            <a:avLst/>
          </a:prstGeom>
          <a:solidFill>
            <a:srgbClr val="F0F7EE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904488"/>
            <a:ext cx="320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78640"/>
                </a:solidFill>
              </a:rPr>
              <a:t>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90448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</a:rPr>
              <a:t>Valores dentro do esperado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3904488"/>
            <a:ext cx="612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A taxa de alfabetização precisa ser um número entre 0% e 100%.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480560"/>
            <a:ext cx="1106424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800" y="4636008"/>
            <a:ext cx="320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78640"/>
                </a:solidFill>
              </a:rPr>
              <a:t>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636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</a:rPr>
              <a:t>Municípios reconhecidos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4636008"/>
            <a:ext cx="612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O código do município tem que existir na base oficial do IBGE.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212080"/>
            <a:ext cx="11064240" cy="658368"/>
          </a:xfrm>
          <a:prstGeom prst="rect">
            <a:avLst/>
          </a:prstGeom>
          <a:solidFill>
            <a:srgbClr val="F0F7EE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800" y="5367528"/>
            <a:ext cx="320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78640"/>
                </a:solidFill>
              </a:rPr>
              <a:t>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536752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</a:rPr>
              <a:t>Dados do estado batem com o município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5367528"/>
            <a:ext cx="612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Os números estaduais são consistentes com a soma dos municípios.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Ferramentas e Custo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</a:rPr>
              <a:t>O que usamos e quanto custa?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53796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</a:rPr>
              <a:t>7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</a:rPr>
              <a:t>Principais ferramentas: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</a:rPr>
              <a:t>• AWS S3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1828800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Onde os dados ficam guardados na nuvem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487168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</a:rPr>
              <a:t>• AWS Glue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487168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Faz a limpeza e transformação dos dados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145536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</a:rPr>
              <a:t>• AWS Athena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145536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Permite consultar os dados com SQL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803904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</a:rPr>
              <a:t>• Apache Airflow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803904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Agenda e executa tudo todo dia automaticamente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462272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</a:rPr>
              <a:t>• Python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4462272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Linguagem de programação usada no projeto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120640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</a:rPr>
              <a:t>• Parquet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5120640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Formato de arquivo 60% mais leve que CSV/Excel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1325880"/>
            <a:ext cx="9525" cy="512064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9224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</a:rPr>
              <a:t>Custo mensal estimado: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1874519"/>
            <a:ext cx="5212080" cy="50292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29400" y="1965959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Armazenamento (S3)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1965959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404040"/>
                </a:solidFill>
              </a:rPr>
              <a:t>$  0,40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2377439"/>
            <a:ext cx="52120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629400" y="2468879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Processamento (Glue)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2468879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404040"/>
                </a:solidFill>
              </a:rPr>
              <a:t>$  1,76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2880359"/>
            <a:ext cx="5212080" cy="50292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29400" y="2971799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Consultas (Athena)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0" y="2971799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404040"/>
                </a:solidFill>
              </a:rPr>
              <a:t>$  0,25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92240" y="3383279"/>
            <a:ext cx="52120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29400" y="3474719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Monitoramento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0" y="3474719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404040"/>
                </a:solidFill>
              </a:rPr>
              <a:t>$  0,50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92240" y="3886199"/>
            <a:ext cx="521208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629400" y="3922394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0" y="3950207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 dirty="0">
                <a:solidFill>
                  <a:srgbClr val="FFFFFF"/>
                </a:solidFill>
              </a:rPr>
              <a:t>~ $2,91 / </a:t>
            </a:r>
            <a:r>
              <a:rPr sz="1200" b="1" i="0" dirty="0" err="1">
                <a:solidFill>
                  <a:srgbClr val="FFFFFF"/>
                </a:solidFill>
              </a:rPr>
              <a:t>mês</a:t>
            </a:r>
            <a:endParaRPr sz="1200" b="1" i="0" dirty="0">
              <a:solidFill>
                <a:srgbClr val="FFFFFF"/>
              </a:solidFill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6492240" y="4160520"/>
            <a:ext cx="5212080" cy="685800"/>
          </a:xfrm>
          <a:prstGeom prst="rect">
            <a:avLst/>
          </a:prstGeom>
          <a:solidFill>
            <a:srgbClr val="FEF9E2"/>
          </a:solidFill>
          <a:ln w="12700">
            <a:solidFill>
              <a:srgbClr val="C59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604635" y="42519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D5F00"/>
                </a:solidFill>
              </a:rPr>
              <a:t>Para comparar: usar ferramentas tradicionais
custaria cerca de R$ 2.000/mês.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498348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8640"/>
                </a:solidFill>
              </a:rPr>
              <a:t>Economia de aproximadamente 99% no custo de infraestrutura.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 que a Pipeline Entrega?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</a:rPr>
              <a:t>5 relatórios prontos para uso — a camada Gold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53796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</a:rPr>
              <a:t>8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</a:rPr>
              <a:t>A camada final (Gold) produz 5 conjuntos de dados prontos para serem usados
em dashboards, Excel, Power BI ou para alimentar modelos de Inteligência Artificial.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86000"/>
            <a:ext cx="11064240" cy="749808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286000"/>
            <a:ext cx="502920" cy="74980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6072" y="245059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359152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</a:rPr>
              <a:t>Indicador por Município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359152"/>
            <a:ext cx="6309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Taxa de alfabetização de todos os 5.570 municípios, com categoria de risco:
Crítico / Alto / Moderado / Meta Atingida.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090672"/>
            <a:ext cx="1106424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3090672"/>
            <a:ext cx="502920" cy="74980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76072" y="325526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163824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</a:rPr>
              <a:t>Evolução por Estado ao longo dos anos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163824"/>
            <a:ext cx="6309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Mostra como cada estado evoluiu — dá para ver quem cresceu mais
e quem ficou para trás.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95344"/>
            <a:ext cx="11064240" cy="749808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48640" y="3895344"/>
            <a:ext cx="502920" cy="74980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76072" y="4059936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968496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</a:rPr>
              <a:t>Ranking dos 27 Estados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3968496"/>
            <a:ext cx="6309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Lista os estados do mais alfabetizado ao menos, com base
nos dados mais recentes.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700016"/>
            <a:ext cx="1106424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48640" y="4700016"/>
            <a:ext cx="502920" cy="74980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76072" y="486460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77316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</a:rPr>
              <a:t>Os 100 Municípios em Situação Crítica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0" y="4773168"/>
            <a:ext cx="6309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Identifica os municípios mais distantes da meta de 80% —
os que precisam de atenção urgente.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504688"/>
            <a:ext cx="11064240" cy="749808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48640" y="5504688"/>
            <a:ext cx="502920" cy="74980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76072" y="566928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577840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</a:rPr>
              <a:t>Comparativo Nacional (meta vs. realidade)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0" y="5577840"/>
            <a:ext cx="6309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Mostra a diferença entre o que foi alcançado e a trajetória
necessária para bater a meta em 2030.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 Próximo Passo: Inteligência Artificial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</a:rPr>
              <a:t>Como esses dados podem ser usados para prever e agir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53796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</a:rPr>
              <a:t>9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</a:rPr>
              <a:t>Com os dados organizados na camada Gold, é possível construir modelos de IA
que ajudam o governo a tomar decisões mais rápidas e certeiras.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86000"/>
            <a:ext cx="5577840" cy="1737360"/>
          </a:xfrm>
          <a:prstGeom prst="rect">
            <a:avLst/>
          </a:prstGeom>
          <a:solidFill>
            <a:srgbClr val="F0F5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286000"/>
            <a:ext cx="365760" cy="1737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239572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</a:rPr>
              <a:t>Prever se um município vai atingir a meta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83464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Um modelo analisa o ritmo atual de crescimento de cada município e
prevê se ele vai bater os 80% até 2030 — ou se vai precisar de ajuda.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286000"/>
            <a:ext cx="5577840" cy="1737360"/>
          </a:xfrm>
          <a:prstGeom prst="rect">
            <a:avLst/>
          </a:prstGeom>
          <a:solidFill>
            <a:srgbClr val="F0F5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0" y="2286000"/>
            <a:ext cx="365760" cy="1737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03720" y="239572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</a:rPr>
              <a:t>Identificar grupos de municípios parecidos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83464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Agrupa municípios com perfil semelhante (taxa baixa + pobreza alta,
por exemplo) para criar políticas públicas direcionadas.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206240"/>
            <a:ext cx="5577840" cy="1737360"/>
          </a:xfrm>
          <a:prstGeom prst="rect">
            <a:avLst/>
          </a:prstGeom>
          <a:solidFill>
            <a:srgbClr val="F0F5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4206240"/>
            <a:ext cx="365760" cy="1737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51560" y="431596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</a:rPr>
              <a:t>Projetar a taxa de cada estado nos próximos anos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7548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Usando séries históricas, estima como cada estado vai evoluir
e onde o governo precisa intensificar o apoio.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4206240"/>
            <a:ext cx="5577840" cy="1737360"/>
          </a:xfrm>
          <a:prstGeom prst="rect">
            <a:avLst/>
          </a:prstGeom>
          <a:solidFill>
            <a:srgbClr val="F0F5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00800" y="4206240"/>
            <a:ext cx="365760" cy="1737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03720" y="431596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</a:rPr>
              <a:t>Mapear desigualdade educacional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548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Cruza dados de alfabetização com IDH, pobreza e acesso ao
Bolsa Família para entender as causas da desigualdade.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DD7EE"/>
                </a:solidFill>
              </a:rPr>
              <a:t>Resumo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Pipeline pronta.
Dados confiáveis.
Decisões melhores.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200400"/>
            <a:ext cx="10515600" cy="190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3429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✔  34.800+ registros municipais integrados e validados automaticamente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77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✔  5 relatórios prontos: ranking, risco, evolução e comparativo nacional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526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✔  Custo de ~R$ 15/mês contra ~R$ 2.000 de uma solução tradicional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074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✔  Base de dados pronta para modelos de IA que preveem municípios em risco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23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✔  Código no GitHub com histórico, notebooks, testes e documentação completa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0D2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6291072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DC3E6"/>
                </a:solidFill>
              </a:rPr>
              <a:t>FIAP POSTECH  ·  AI Scientist  ·  Tech Challenge Fase 2  ·  Engenharia de Dados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3112" y="653796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1250</Words>
  <Application>Microsoft Office PowerPoint</Application>
  <PresentationFormat>Custom</PresentationFormat>
  <Paragraphs>165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Santin, Diego</cp:lastModifiedBy>
  <cp:revision>1</cp:revision>
  <dcterms:created xsi:type="dcterms:W3CDTF">2013-01-27T09:14:16Z</dcterms:created>
  <dcterms:modified xsi:type="dcterms:W3CDTF">2026-07-12T23:29:05Z</dcterms:modified>
  <cp:category/>
</cp:coreProperties>
</file>